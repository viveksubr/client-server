
<file path=[Content_Types].xml><?xml version="1.0" encoding="utf-8"?>
<Types xmlns="http://schemas.openxmlformats.org/package/2006/content-types">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56" r:id="rId2"/>
    <p:sldId id="258" r:id="rId3"/>
    <p:sldId id="257" r:id="rId4"/>
    <p:sldId id="259" r:id="rId5"/>
    <p:sldId id="260" r:id="rId6"/>
    <p:sldId id="261" r:id="rId7"/>
    <p:sldId id="263"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7" autoAdjust="0"/>
    <p:restoredTop sz="94660"/>
  </p:normalViewPr>
  <p:slideViewPr>
    <p:cSldViewPr snapToGrid="0">
      <p:cViewPr varScale="1">
        <p:scale>
          <a:sx n="71" d="100"/>
          <a:sy n="71" d="100"/>
        </p:scale>
        <p:origin x="488" y="2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vek Subramaniam" userId="d38d2245-e2d8-49a1-a002-d3b493390a66" providerId="ADAL" clId="{76F53459-2FA6-4F99-A1D1-12636F0DD11A}"/>
    <pc:docChg chg="delSld modSld sldOrd">
      <pc:chgData name="Vivek Subramaniam" userId="d38d2245-e2d8-49a1-a002-d3b493390a66" providerId="ADAL" clId="{76F53459-2FA6-4F99-A1D1-12636F0DD11A}" dt="2026-06-09T10:24:51.110" v="1" actId="47"/>
      <pc:docMkLst>
        <pc:docMk/>
      </pc:docMkLst>
      <pc:sldChg chg="ord">
        <pc:chgData name="Vivek Subramaniam" userId="d38d2245-e2d8-49a1-a002-d3b493390a66" providerId="ADAL" clId="{76F53459-2FA6-4F99-A1D1-12636F0DD11A}" dt="2026-06-07T06:27:24.039" v="0"/>
        <pc:sldMkLst>
          <pc:docMk/>
          <pc:sldMk cId="1246164988" sldId="258"/>
        </pc:sldMkLst>
      </pc:sldChg>
      <pc:sldChg chg="del">
        <pc:chgData name="Vivek Subramaniam" userId="d38d2245-e2d8-49a1-a002-d3b493390a66" providerId="ADAL" clId="{76F53459-2FA6-4F99-A1D1-12636F0DD11A}" dt="2026-06-09T10:24:51.110" v="1" actId="47"/>
        <pc:sldMkLst>
          <pc:docMk/>
          <pc:sldMk cId="2907765125" sldId="26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72A9A6-BF38-43D3-98CA-7ACEF2101AD2}" type="datetimeFigureOut">
              <a:rPr lang="en-IN" smtClean="0"/>
              <a:t>09-06-2026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C5211D3-411F-4760-A28E-62C6C126AD4C}" type="slidenum">
              <a:rPr lang="en-IN" smtClean="0"/>
              <a:t>‹#›</a:t>
            </a:fld>
            <a:endParaRPr lang="en-IN"/>
          </a:p>
        </p:txBody>
      </p:sp>
    </p:spTree>
    <p:extLst>
      <p:ext uri="{BB962C8B-B14F-4D97-AF65-F5344CB8AC3E}">
        <p14:creationId xmlns:p14="http://schemas.microsoft.com/office/powerpoint/2010/main" val="23488915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C5211D3-411F-4760-A28E-62C6C126AD4C}" type="slidenum">
              <a:rPr lang="en-IN" smtClean="0"/>
              <a:t>5</a:t>
            </a:fld>
            <a:endParaRPr lang="en-IN"/>
          </a:p>
        </p:txBody>
      </p:sp>
    </p:spTree>
    <p:extLst>
      <p:ext uri="{BB962C8B-B14F-4D97-AF65-F5344CB8AC3E}">
        <p14:creationId xmlns:p14="http://schemas.microsoft.com/office/powerpoint/2010/main" val="17895425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608CA7-0B46-0051-3D2B-FF9ADE91CEC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7A70F60-ECDC-50CD-37FB-044DF7758F7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B80EED6-8D42-49E0-422C-6ED3F49F717F}"/>
              </a:ext>
            </a:extLst>
          </p:cNvPr>
          <p:cNvSpPr>
            <a:spLocks noGrp="1"/>
          </p:cNvSpPr>
          <p:nvPr>
            <p:ph type="dt" sz="half" idx="10"/>
          </p:nvPr>
        </p:nvSpPr>
        <p:spPr/>
        <p:txBody>
          <a:bodyPr/>
          <a:lstStyle/>
          <a:p>
            <a:fld id="{16B668C7-AA6D-4428-9279-8D6D7BF2980D}" type="datetimeFigureOut">
              <a:rPr lang="en-IN" smtClean="0"/>
              <a:t>09-06-2026</a:t>
            </a:fld>
            <a:endParaRPr lang="en-IN"/>
          </a:p>
        </p:txBody>
      </p:sp>
      <p:sp>
        <p:nvSpPr>
          <p:cNvPr id="5" name="Footer Placeholder 4">
            <a:extLst>
              <a:ext uri="{FF2B5EF4-FFF2-40B4-BE49-F238E27FC236}">
                <a16:creationId xmlns:a16="http://schemas.microsoft.com/office/drawing/2014/main" id="{75343F09-5E7E-0495-DD55-4B37CCFDA18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3943AF7-22A7-57C5-C767-8CFD2AF17B99}"/>
              </a:ext>
            </a:extLst>
          </p:cNvPr>
          <p:cNvSpPr>
            <a:spLocks noGrp="1"/>
          </p:cNvSpPr>
          <p:nvPr>
            <p:ph type="sldNum" sz="quarter" idx="12"/>
          </p:nvPr>
        </p:nvSpPr>
        <p:spPr/>
        <p:txBody>
          <a:bodyPr/>
          <a:lstStyle/>
          <a:p>
            <a:fld id="{B3EA8636-5A36-4EDC-AE86-03E4B5D81612}" type="slidenum">
              <a:rPr lang="en-IN" smtClean="0"/>
              <a:t>‹#›</a:t>
            </a:fld>
            <a:endParaRPr lang="en-IN"/>
          </a:p>
        </p:txBody>
      </p:sp>
    </p:spTree>
    <p:extLst>
      <p:ext uri="{BB962C8B-B14F-4D97-AF65-F5344CB8AC3E}">
        <p14:creationId xmlns:p14="http://schemas.microsoft.com/office/powerpoint/2010/main" val="12463986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0C45F4-CFA6-7757-E382-FB46BD04F54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B6AB5D1-B071-5725-A205-B86D2167599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B88643F-A6BD-CC85-7965-8BFC1B0E3F3F}"/>
              </a:ext>
            </a:extLst>
          </p:cNvPr>
          <p:cNvSpPr>
            <a:spLocks noGrp="1"/>
          </p:cNvSpPr>
          <p:nvPr>
            <p:ph type="dt" sz="half" idx="10"/>
          </p:nvPr>
        </p:nvSpPr>
        <p:spPr/>
        <p:txBody>
          <a:bodyPr/>
          <a:lstStyle/>
          <a:p>
            <a:fld id="{16B668C7-AA6D-4428-9279-8D6D7BF2980D}" type="datetimeFigureOut">
              <a:rPr lang="en-IN" smtClean="0"/>
              <a:t>09-06-2026</a:t>
            </a:fld>
            <a:endParaRPr lang="en-IN"/>
          </a:p>
        </p:txBody>
      </p:sp>
      <p:sp>
        <p:nvSpPr>
          <p:cNvPr id="5" name="Footer Placeholder 4">
            <a:extLst>
              <a:ext uri="{FF2B5EF4-FFF2-40B4-BE49-F238E27FC236}">
                <a16:creationId xmlns:a16="http://schemas.microsoft.com/office/drawing/2014/main" id="{E314C69F-EB72-7D62-794F-54B1A2322EE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FA5987F-F3E4-621C-E85B-824AD05E113D}"/>
              </a:ext>
            </a:extLst>
          </p:cNvPr>
          <p:cNvSpPr>
            <a:spLocks noGrp="1"/>
          </p:cNvSpPr>
          <p:nvPr>
            <p:ph type="sldNum" sz="quarter" idx="12"/>
          </p:nvPr>
        </p:nvSpPr>
        <p:spPr/>
        <p:txBody>
          <a:bodyPr/>
          <a:lstStyle/>
          <a:p>
            <a:fld id="{B3EA8636-5A36-4EDC-AE86-03E4B5D81612}" type="slidenum">
              <a:rPr lang="en-IN" smtClean="0"/>
              <a:t>‹#›</a:t>
            </a:fld>
            <a:endParaRPr lang="en-IN"/>
          </a:p>
        </p:txBody>
      </p:sp>
    </p:spTree>
    <p:extLst>
      <p:ext uri="{BB962C8B-B14F-4D97-AF65-F5344CB8AC3E}">
        <p14:creationId xmlns:p14="http://schemas.microsoft.com/office/powerpoint/2010/main" val="13628022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6B578F-D5DD-6EB6-9986-0929FD949C0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44221EA-EFB7-1848-9C24-8E7111B6FCF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34FDE66-0ADD-1B7A-C6EB-05C4991D3938}"/>
              </a:ext>
            </a:extLst>
          </p:cNvPr>
          <p:cNvSpPr>
            <a:spLocks noGrp="1"/>
          </p:cNvSpPr>
          <p:nvPr>
            <p:ph type="dt" sz="half" idx="10"/>
          </p:nvPr>
        </p:nvSpPr>
        <p:spPr/>
        <p:txBody>
          <a:bodyPr/>
          <a:lstStyle/>
          <a:p>
            <a:fld id="{16B668C7-AA6D-4428-9279-8D6D7BF2980D}" type="datetimeFigureOut">
              <a:rPr lang="en-IN" smtClean="0"/>
              <a:t>09-06-2026</a:t>
            </a:fld>
            <a:endParaRPr lang="en-IN"/>
          </a:p>
        </p:txBody>
      </p:sp>
      <p:sp>
        <p:nvSpPr>
          <p:cNvPr id="5" name="Footer Placeholder 4">
            <a:extLst>
              <a:ext uri="{FF2B5EF4-FFF2-40B4-BE49-F238E27FC236}">
                <a16:creationId xmlns:a16="http://schemas.microsoft.com/office/drawing/2014/main" id="{2B19B4F3-B4F6-A1B1-AFD0-5948020C773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A780B43-01B0-4A4B-4A3F-077DE734BD94}"/>
              </a:ext>
            </a:extLst>
          </p:cNvPr>
          <p:cNvSpPr>
            <a:spLocks noGrp="1"/>
          </p:cNvSpPr>
          <p:nvPr>
            <p:ph type="sldNum" sz="quarter" idx="12"/>
          </p:nvPr>
        </p:nvSpPr>
        <p:spPr/>
        <p:txBody>
          <a:bodyPr/>
          <a:lstStyle/>
          <a:p>
            <a:fld id="{B3EA8636-5A36-4EDC-AE86-03E4B5D81612}" type="slidenum">
              <a:rPr lang="en-IN" smtClean="0"/>
              <a:t>‹#›</a:t>
            </a:fld>
            <a:endParaRPr lang="en-IN"/>
          </a:p>
        </p:txBody>
      </p:sp>
    </p:spTree>
    <p:extLst>
      <p:ext uri="{BB962C8B-B14F-4D97-AF65-F5344CB8AC3E}">
        <p14:creationId xmlns:p14="http://schemas.microsoft.com/office/powerpoint/2010/main" val="1016768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78AF37-3B93-6F92-D043-03A484AC8E2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E9E5DA7-87E4-AF4D-828F-A38B33A598F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F88107E-9156-47E5-FB1C-E11B5D3E93F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001C745-690E-7C52-CA43-783096952EBE}"/>
              </a:ext>
            </a:extLst>
          </p:cNvPr>
          <p:cNvSpPr>
            <a:spLocks noGrp="1"/>
          </p:cNvSpPr>
          <p:nvPr>
            <p:ph type="dt" sz="half" idx="10"/>
          </p:nvPr>
        </p:nvSpPr>
        <p:spPr/>
        <p:txBody>
          <a:bodyPr/>
          <a:lstStyle/>
          <a:p>
            <a:fld id="{16B668C7-AA6D-4428-9279-8D6D7BF2980D}" type="datetimeFigureOut">
              <a:rPr lang="en-IN" smtClean="0"/>
              <a:t>09-06-2026</a:t>
            </a:fld>
            <a:endParaRPr lang="en-IN"/>
          </a:p>
        </p:txBody>
      </p:sp>
      <p:sp>
        <p:nvSpPr>
          <p:cNvPr id="6" name="Footer Placeholder 5">
            <a:extLst>
              <a:ext uri="{FF2B5EF4-FFF2-40B4-BE49-F238E27FC236}">
                <a16:creationId xmlns:a16="http://schemas.microsoft.com/office/drawing/2014/main" id="{05823B0F-7457-CA98-0CEE-64B6B21C396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98EE75A-1F3F-2355-7CA7-A2E41BA1FD00}"/>
              </a:ext>
            </a:extLst>
          </p:cNvPr>
          <p:cNvSpPr>
            <a:spLocks noGrp="1"/>
          </p:cNvSpPr>
          <p:nvPr>
            <p:ph type="sldNum" sz="quarter" idx="12"/>
          </p:nvPr>
        </p:nvSpPr>
        <p:spPr/>
        <p:txBody>
          <a:bodyPr/>
          <a:lstStyle/>
          <a:p>
            <a:fld id="{B3EA8636-5A36-4EDC-AE86-03E4B5D81612}" type="slidenum">
              <a:rPr lang="en-IN" smtClean="0"/>
              <a:t>‹#›</a:t>
            </a:fld>
            <a:endParaRPr lang="en-IN"/>
          </a:p>
        </p:txBody>
      </p:sp>
    </p:spTree>
    <p:extLst>
      <p:ext uri="{BB962C8B-B14F-4D97-AF65-F5344CB8AC3E}">
        <p14:creationId xmlns:p14="http://schemas.microsoft.com/office/powerpoint/2010/main" val="9262081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DB94AE-78E4-6839-FD81-7E07EE2A80A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D7A3640-787B-F632-C6C6-DF2B72182E7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D17FBBB-9BD5-CC5C-4B7A-F9E286211AF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279DBDF-BC3C-7F16-A3AA-D9DCCE26230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54D98E6-4B34-CFB8-EBC0-757BF80839E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245E466-61E0-A8E0-5182-3D5C5F57F31A}"/>
              </a:ext>
            </a:extLst>
          </p:cNvPr>
          <p:cNvSpPr>
            <a:spLocks noGrp="1"/>
          </p:cNvSpPr>
          <p:nvPr>
            <p:ph type="dt" sz="half" idx="10"/>
          </p:nvPr>
        </p:nvSpPr>
        <p:spPr/>
        <p:txBody>
          <a:bodyPr/>
          <a:lstStyle/>
          <a:p>
            <a:fld id="{16B668C7-AA6D-4428-9279-8D6D7BF2980D}" type="datetimeFigureOut">
              <a:rPr lang="en-IN" smtClean="0"/>
              <a:t>09-06-2026</a:t>
            </a:fld>
            <a:endParaRPr lang="en-IN"/>
          </a:p>
        </p:txBody>
      </p:sp>
      <p:sp>
        <p:nvSpPr>
          <p:cNvPr id="8" name="Footer Placeholder 7">
            <a:extLst>
              <a:ext uri="{FF2B5EF4-FFF2-40B4-BE49-F238E27FC236}">
                <a16:creationId xmlns:a16="http://schemas.microsoft.com/office/drawing/2014/main" id="{4C7F51D9-1B26-60E1-9758-88F4F8ED608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299E5FC-ACD7-38E1-6A47-D59B386E0072}"/>
              </a:ext>
            </a:extLst>
          </p:cNvPr>
          <p:cNvSpPr>
            <a:spLocks noGrp="1"/>
          </p:cNvSpPr>
          <p:nvPr>
            <p:ph type="sldNum" sz="quarter" idx="12"/>
          </p:nvPr>
        </p:nvSpPr>
        <p:spPr/>
        <p:txBody>
          <a:bodyPr/>
          <a:lstStyle/>
          <a:p>
            <a:fld id="{B3EA8636-5A36-4EDC-AE86-03E4B5D81612}" type="slidenum">
              <a:rPr lang="en-IN" smtClean="0"/>
              <a:t>‹#›</a:t>
            </a:fld>
            <a:endParaRPr lang="en-IN"/>
          </a:p>
        </p:txBody>
      </p:sp>
    </p:spTree>
    <p:extLst>
      <p:ext uri="{BB962C8B-B14F-4D97-AF65-F5344CB8AC3E}">
        <p14:creationId xmlns:p14="http://schemas.microsoft.com/office/powerpoint/2010/main" val="26508330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14437D-C868-2EAF-0F0C-34F0C2400CE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7B64108-2EA1-3E53-FA18-F660D9EC51DA}"/>
              </a:ext>
            </a:extLst>
          </p:cNvPr>
          <p:cNvSpPr>
            <a:spLocks noGrp="1"/>
          </p:cNvSpPr>
          <p:nvPr>
            <p:ph type="dt" sz="half" idx="10"/>
          </p:nvPr>
        </p:nvSpPr>
        <p:spPr/>
        <p:txBody>
          <a:bodyPr/>
          <a:lstStyle/>
          <a:p>
            <a:fld id="{16B668C7-AA6D-4428-9279-8D6D7BF2980D}" type="datetimeFigureOut">
              <a:rPr lang="en-IN" smtClean="0"/>
              <a:t>09-06-2026</a:t>
            </a:fld>
            <a:endParaRPr lang="en-IN"/>
          </a:p>
        </p:txBody>
      </p:sp>
      <p:sp>
        <p:nvSpPr>
          <p:cNvPr id="4" name="Footer Placeholder 3">
            <a:extLst>
              <a:ext uri="{FF2B5EF4-FFF2-40B4-BE49-F238E27FC236}">
                <a16:creationId xmlns:a16="http://schemas.microsoft.com/office/drawing/2014/main" id="{1AB50F61-5DFB-510E-EB22-43AE68BEA7B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F5FB9F8-A484-D8D1-18F0-D9E56628A1CB}"/>
              </a:ext>
            </a:extLst>
          </p:cNvPr>
          <p:cNvSpPr>
            <a:spLocks noGrp="1"/>
          </p:cNvSpPr>
          <p:nvPr>
            <p:ph type="sldNum" sz="quarter" idx="12"/>
          </p:nvPr>
        </p:nvSpPr>
        <p:spPr/>
        <p:txBody>
          <a:bodyPr/>
          <a:lstStyle/>
          <a:p>
            <a:fld id="{B3EA8636-5A36-4EDC-AE86-03E4B5D81612}" type="slidenum">
              <a:rPr lang="en-IN" smtClean="0"/>
              <a:t>‹#›</a:t>
            </a:fld>
            <a:endParaRPr lang="en-IN"/>
          </a:p>
        </p:txBody>
      </p:sp>
    </p:spTree>
    <p:extLst>
      <p:ext uri="{BB962C8B-B14F-4D97-AF65-F5344CB8AC3E}">
        <p14:creationId xmlns:p14="http://schemas.microsoft.com/office/powerpoint/2010/main" val="4707045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31514B7-DF0F-27AD-3D28-7F048D6DC827}"/>
              </a:ext>
            </a:extLst>
          </p:cNvPr>
          <p:cNvSpPr>
            <a:spLocks noGrp="1"/>
          </p:cNvSpPr>
          <p:nvPr>
            <p:ph type="dt" sz="half" idx="10"/>
          </p:nvPr>
        </p:nvSpPr>
        <p:spPr/>
        <p:txBody>
          <a:bodyPr/>
          <a:lstStyle/>
          <a:p>
            <a:fld id="{16B668C7-AA6D-4428-9279-8D6D7BF2980D}" type="datetimeFigureOut">
              <a:rPr lang="en-IN" smtClean="0"/>
              <a:t>09-06-2026</a:t>
            </a:fld>
            <a:endParaRPr lang="en-IN"/>
          </a:p>
        </p:txBody>
      </p:sp>
      <p:sp>
        <p:nvSpPr>
          <p:cNvPr id="3" name="Footer Placeholder 2">
            <a:extLst>
              <a:ext uri="{FF2B5EF4-FFF2-40B4-BE49-F238E27FC236}">
                <a16:creationId xmlns:a16="http://schemas.microsoft.com/office/drawing/2014/main" id="{B3A3753B-D5F8-BF24-4461-D78FDC29267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8A9ACC1-D90E-F580-1219-EABB8C61BB14}"/>
              </a:ext>
            </a:extLst>
          </p:cNvPr>
          <p:cNvSpPr>
            <a:spLocks noGrp="1"/>
          </p:cNvSpPr>
          <p:nvPr>
            <p:ph type="sldNum" sz="quarter" idx="12"/>
          </p:nvPr>
        </p:nvSpPr>
        <p:spPr/>
        <p:txBody>
          <a:bodyPr/>
          <a:lstStyle/>
          <a:p>
            <a:fld id="{B3EA8636-5A36-4EDC-AE86-03E4B5D81612}" type="slidenum">
              <a:rPr lang="en-IN" smtClean="0"/>
              <a:t>‹#›</a:t>
            </a:fld>
            <a:endParaRPr lang="en-IN"/>
          </a:p>
        </p:txBody>
      </p:sp>
    </p:spTree>
    <p:extLst>
      <p:ext uri="{BB962C8B-B14F-4D97-AF65-F5344CB8AC3E}">
        <p14:creationId xmlns:p14="http://schemas.microsoft.com/office/powerpoint/2010/main" val="13141412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7A350F-314F-74DD-379B-A11E4F91E39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8794DF74-2E7B-D8AE-BCB9-A3204EFE7B6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8902286-0187-F212-8F9E-DFC3B3CB206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E312FF5-5E32-FC03-488D-D31F80CFB9C6}"/>
              </a:ext>
            </a:extLst>
          </p:cNvPr>
          <p:cNvSpPr>
            <a:spLocks noGrp="1"/>
          </p:cNvSpPr>
          <p:nvPr>
            <p:ph type="dt" sz="half" idx="10"/>
          </p:nvPr>
        </p:nvSpPr>
        <p:spPr/>
        <p:txBody>
          <a:bodyPr/>
          <a:lstStyle/>
          <a:p>
            <a:fld id="{16B668C7-AA6D-4428-9279-8D6D7BF2980D}" type="datetimeFigureOut">
              <a:rPr lang="en-IN" smtClean="0"/>
              <a:t>09-06-2026</a:t>
            </a:fld>
            <a:endParaRPr lang="en-IN"/>
          </a:p>
        </p:txBody>
      </p:sp>
      <p:sp>
        <p:nvSpPr>
          <p:cNvPr id="6" name="Footer Placeholder 5">
            <a:extLst>
              <a:ext uri="{FF2B5EF4-FFF2-40B4-BE49-F238E27FC236}">
                <a16:creationId xmlns:a16="http://schemas.microsoft.com/office/drawing/2014/main" id="{82C5C3D2-EAAA-C68B-0CCC-06CDB9E2D3F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9B86F01-B885-EC06-3D2B-C37E26F92F8A}"/>
              </a:ext>
            </a:extLst>
          </p:cNvPr>
          <p:cNvSpPr>
            <a:spLocks noGrp="1"/>
          </p:cNvSpPr>
          <p:nvPr>
            <p:ph type="sldNum" sz="quarter" idx="12"/>
          </p:nvPr>
        </p:nvSpPr>
        <p:spPr/>
        <p:txBody>
          <a:bodyPr/>
          <a:lstStyle/>
          <a:p>
            <a:fld id="{B3EA8636-5A36-4EDC-AE86-03E4B5D81612}" type="slidenum">
              <a:rPr lang="en-IN" smtClean="0"/>
              <a:t>‹#›</a:t>
            </a:fld>
            <a:endParaRPr lang="en-IN"/>
          </a:p>
        </p:txBody>
      </p:sp>
    </p:spTree>
    <p:extLst>
      <p:ext uri="{BB962C8B-B14F-4D97-AF65-F5344CB8AC3E}">
        <p14:creationId xmlns:p14="http://schemas.microsoft.com/office/powerpoint/2010/main" val="2149065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B49B15-A950-BD07-F772-069D4B357A6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66E67F2-D7ED-ECCC-3B76-D66246C616D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3F4683D-0519-934E-C5C4-944865F08D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396906A-8C4F-3DA7-9343-12004EC3DC2A}"/>
              </a:ext>
            </a:extLst>
          </p:cNvPr>
          <p:cNvSpPr>
            <a:spLocks noGrp="1"/>
          </p:cNvSpPr>
          <p:nvPr>
            <p:ph type="dt" sz="half" idx="10"/>
          </p:nvPr>
        </p:nvSpPr>
        <p:spPr/>
        <p:txBody>
          <a:bodyPr/>
          <a:lstStyle/>
          <a:p>
            <a:fld id="{16B668C7-AA6D-4428-9279-8D6D7BF2980D}" type="datetimeFigureOut">
              <a:rPr lang="en-IN" smtClean="0"/>
              <a:t>09-06-2026</a:t>
            </a:fld>
            <a:endParaRPr lang="en-IN"/>
          </a:p>
        </p:txBody>
      </p:sp>
      <p:sp>
        <p:nvSpPr>
          <p:cNvPr id="6" name="Footer Placeholder 5">
            <a:extLst>
              <a:ext uri="{FF2B5EF4-FFF2-40B4-BE49-F238E27FC236}">
                <a16:creationId xmlns:a16="http://schemas.microsoft.com/office/drawing/2014/main" id="{E9867651-F89B-63C0-B8CB-1C06A7CF50E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0DDEC47-04FF-48BD-009A-9F546F132E2E}"/>
              </a:ext>
            </a:extLst>
          </p:cNvPr>
          <p:cNvSpPr>
            <a:spLocks noGrp="1"/>
          </p:cNvSpPr>
          <p:nvPr>
            <p:ph type="sldNum" sz="quarter" idx="12"/>
          </p:nvPr>
        </p:nvSpPr>
        <p:spPr/>
        <p:txBody>
          <a:bodyPr/>
          <a:lstStyle/>
          <a:p>
            <a:fld id="{B3EA8636-5A36-4EDC-AE86-03E4B5D81612}" type="slidenum">
              <a:rPr lang="en-IN" smtClean="0"/>
              <a:t>‹#›</a:t>
            </a:fld>
            <a:endParaRPr lang="en-IN"/>
          </a:p>
        </p:txBody>
      </p:sp>
    </p:spTree>
    <p:extLst>
      <p:ext uri="{BB962C8B-B14F-4D97-AF65-F5344CB8AC3E}">
        <p14:creationId xmlns:p14="http://schemas.microsoft.com/office/powerpoint/2010/main" val="32436902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47CFDE-C92C-D79F-C518-F226041E5AC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A97F947-B3F6-7F15-CB51-626C0A228A5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175DD49-6A84-F801-A738-DCE4B8D56951}"/>
              </a:ext>
            </a:extLst>
          </p:cNvPr>
          <p:cNvSpPr>
            <a:spLocks noGrp="1"/>
          </p:cNvSpPr>
          <p:nvPr>
            <p:ph type="dt" sz="half" idx="10"/>
          </p:nvPr>
        </p:nvSpPr>
        <p:spPr/>
        <p:txBody>
          <a:bodyPr/>
          <a:lstStyle/>
          <a:p>
            <a:fld id="{16B668C7-AA6D-4428-9279-8D6D7BF2980D}" type="datetimeFigureOut">
              <a:rPr lang="en-IN" smtClean="0"/>
              <a:t>09-06-2026</a:t>
            </a:fld>
            <a:endParaRPr lang="en-IN"/>
          </a:p>
        </p:txBody>
      </p:sp>
      <p:sp>
        <p:nvSpPr>
          <p:cNvPr id="5" name="Footer Placeholder 4">
            <a:extLst>
              <a:ext uri="{FF2B5EF4-FFF2-40B4-BE49-F238E27FC236}">
                <a16:creationId xmlns:a16="http://schemas.microsoft.com/office/drawing/2014/main" id="{BCAFD555-CE3F-20E5-15D2-A54CAE81C32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3A51A56-8065-B3E6-A7B5-2B916FCEC123}"/>
              </a:ext>
            </a:extLst>
          </p:cNvPr>
          <p:cNvSpPr>
            <a:spLocks noGrp="1"/>
          </p:cNvSpPr>
          <p:nvPr>
            <p:ph type="sldNum" sz="quarter" idx="12"/>
          </p:nvPr>
        </p:nvSpPr>
        <p:spPr/>
        <p:txBody>
          <a:bodyPr/>
          <a:lstStyle/>
          <a:p>
            <a:fld id="{B3EA8636-5A36-4EDC-AE86-03E4B5D81612}" type="slidenum">
              <a:rPr lang="en-IN" smtClean="0"/>
              <a:t>‹#›</a:t>
            </a:fld>
            <a:endParaRPr lang="en-IN"/>
          </a:p>
        </p:txBody>
      </p:sp>
    </p:spTree>
    <p:extLst>
      <p:ext uri="{BB962C8B-B14F-4D97-AF65-F5344CB8AC3E}">
        <p14:creationId xmlns:p14="http://schemas.microsoft.com/office/powerpoint/2010/main" val="35907133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5793CB3-40ED-E894-312A-419B075C3B5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893D5E1-43BE-A058-7F4D-995AA0025BF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2017040-6135-1D73-6951-1B343D07D3F2}"/>
              </a:ext>
            </a:extLst>
          </p:cNvPr>
          <p:cNvSpPr>
            <a:spLocks noGrp="1"/>
          </p:cNvSpPr>
          <p:nvPr>
            <p:ph type="dt" sz="half" idx="10"/>
          </p:nvPr>
        </p:nvSpPr>
        <p:spPr/>
        <p:txBody>
          <a:bodyPr/>
          <a:lstStyle/>
          <a:p>
            <a:fld id="{16B668C7-AA6D-4428-9279-8D6D7BF2980D}" type="datetimeFigureOut">
              <a:rPr lang="en-IN" smtClean="0"/>
              <a:t>09-06-2026</a:t>
            </a:fld>
            <a:endParaRPr lang="en-IN"/>
          </a:p>
        </p:txBody>
      </p:sp>
      <p:sp>
        <p:nvSpPr>
          <p:cNvPr id="5" name="Footer Placeholder 4">
            <a:extLst>
              <a:ext uri="{FF2B5EF4-FFF2-40B4-BE49-F238E27FC236}">
                <a16:creationId xmlns:a16="http://schemas.microsoft.com/office/drawing/2014/main" id="{9D996D97-2346-DB3C-60A3-7F8345A1C5F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9DD71D6-1A62-2FF7-A3C0-670CBEEA350D}"/>
              </a:ext>
            </a:extLst>
          </p:cNvPr>
          <p:cNvSpPr>
            <a:spLocks noGrp="1"/>
          </p:cNvSpPr>
          <p:nvPr>
            <p:ph type="sldNum" sz="quarter" idx="12"/>
          </p:nvPr>
        </p:nvSpPr>
        <p:spPr/>
        <p:txBody>
          <a:bodyPr/>
          <a:lstStyle/>
          <a:p>
            <a:fld id="{B3EA8636-5A36-4EDC-AE86-03E4B5D81612}" type="slidenum">
              <a:rPr lang="en-IN" smtClean="0"/>
              <a:t>‹#›</a:t>
            </a:fld>
            <a:endParaRPr lang="en-IN"/>
          </a:p>
        </p:txBody>
      </p:sp>
    </p:spTree>
    <p:extLst>
      <p:ext uri="{BB962C8B-B14F-4D97-AF65-F5344CB8AC3E}">
        <p14:creationId xmlns:p14="http://schemas.microsoft.com/office/powerpoint/2010/main" val="6447481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508F7C0-B0B3-FC33-A9F9-CA223D629AD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BE992CD-FEB0-AC52-8842-C8B8BA0E57D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2D8C849-67D5-EBFF-0F08-32BB5BF930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6B668C7-AA6D-4428-9279-8D6D7BF2980D}" type="datetimeFigureOut">
              <a:rPr lang="en-IN" smtClean="0"/>
              <a:t>09-06-2026</a:t>
            </a:fld>
            <a:endParaRPr lang="en-IN"/>
          </a:p>
        </p:txBody>
      </p:sp>
      <p:sp>
        <p:nvSpPr>
          <p:cNvPr id="5" name="Footer Placeholder 4">
            <a:extLst>
              <a:ext uri="{FF2B5EF4-FFF2-40B4-BE49-F238E27FC236}">
                <a16:creationId xmlns:a16="http://schemas.microsoft.com/office/drawing/2014/main" id="{3DC7906E-3DD8-7041-FF62-0684EC61F30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09EBB5B1-593C-1853-61B0-B6B59E2712A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3EA8636-5A36-4EDC-AE86-03E4B5D81612}" type="slidenum">
              <a:rPr lang="en-IN" smtClean="0"/>
              <a:t>‹#›</a:t>
            </a:fld>
            <a:endParaRPr lang="en-IN"/>
          </a:p>
        </p:txBody>
      </p:sp>
    </p:spTree>
    <p:extLst>
      <p:ext uri="{BB962C8B-B14F-4D97-AF65-F5344CB8AC3E}">
        <p14:creationId xmlns:p14="http://schemas.microsoft.com/office/powerpoint/2010/main" val="3379670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57BBDA-B9DE-AF2D-7900-6A91D6468B17}"/>
              </a:ext>
            </a:extLst>
          </p:cNvPr>
          <p:cNvSpPr>
            <a:spLocks noGrp="1"/>
          </p:cNvSpPr>
          <p:nvPr>
            <p:ph type="ctrTitle"/>
          </p:nvPr>
        </p:nvSpPr>
        <p:spPr/>
        <p:txBody>
          <a:bodyPr/>
          <a:lstStyle/>
          <a:p>
            <a:r>
              <a:rPr lang="en-IN" dirty="0"/>
              <a:t>Service Mesh</a:t>
            </a:r>
          </a:p>
        </p:txBody>
      </p:sp>
      <p:sp>
        <p:nvSpPr>
          <p:cNvPr id="3" name="Subtitle 2">
            <a:extLst>
              <a:ext uri="{FF2B5EF4-FFF2-40B4-BE49-F238E27FC236}">
                <a16:creationId xmlns:a16="http://schemas.microsoft.com/office/drawing/2014/main" id="{3CB7EC60-1317-F886-3175-42008E2DBF81}"/>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42275551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1A332B-88B6-9D9C-C700-00702C509496}"/>
              </a:ext>
            </a:extLst>
          </p:cNvPr>
          <p:cNvSpPr>
            <a:spLocks noGrp="1"/>
          </p:cNvSpPr>
          <p:nvPr>
            <p:ph type="title"/>
          </p:nvPr>
        </p:nvSpPr>
        <p:spPr>
          <a:xfrm>
            <a:off x="838200" y="1"/>
            <a:ext cx="10515600" cy="887505"/>
          </a:xfrm>
        </p:spPr>
        <p:txBody>
          <a:bodyPr/>
          <a:lstStyle/>
          <a:p>
            <a:pPr algn="ctr"/>
            <a:r>
              <a:rPr lang="en-IN" dirty="0"/>
              <a:t>Why is it needed?</a:t>
            </a:r>
          </a:p>
        </p:txBody>
      </p:sp>
      <p:sp>
        <p:nvSpPr>
          <p:cNvPr id="3" name="Content Placeholder 2">
            <a:extLst>
              <a:ext uri="{FF2B5EF4-FFF2-40B4-BE49-F238E27FC236}">
                <a16:creationId xmlns:a16="http://schemas.microsoft.com/office/drawing/2014/main" id="{A8934DDC-9E4C-D1E6-2BAE-BA5527F9BAE7}"/>
              </a:ext>
            </a:extLst>
          </p:cNvPr>
          <p:cNvSpPr>
            <a:spLocks noGrp="1"/>
          </p:cNvSpPr>
          <p:nvPr>
            <p:ph idx="1"/>
          </p:nvPr>
        </p:nvSpPr>
        <p:spPr>
          <a:xfrm>
            <a:off x="224117" y="838200"/>
            <a:ext cx="11725835" cy="5876365"/>
          </a:xfrm>
        </p:spPr>
        <p:txBody>
          <a:bodyPr>
            <a:normAutofit fontScale="92500"/>
          </a:bodyPr>
          <a:lstStyle/>
          <a:p>
            <a:pPr marL="0" indent="0">
              <a:buNone/>
            </a:pPr>
            <a:r>
              <a:rPr lang="en-IN" dirty="0"/>
              <a:t>In </a:t>
            </a:r>
            <a:r>
              <a:rPr lang="en-IN" b="1" dirty="0"/>
              <a:t>microservices</a:t>
            </a:r>
            <a:r>
              <a:rPr lang="en-IN" dirty="0"/>
              <a:t> architecture, a system might have 100+ services running, and they will all have a sub-set of the same intercommunication requirements –</a:t>
            </a:r>
          </a:p>
          <a:p>
            <a:r>
              <a:rPr lang="en-IN" b="1" dirty="0"/>
              <a:t>Transport</a:t>
            </a:r>
            <a:r>
              <a:rPr lang="en-IN" dirty="0"/>
              <a:t> – they all need to talk in a efficient protocol understood by all</a:t>
            </a:r>
          </a:p>
          <a:p>
            <a:r>
              <a:rPr lang="en-IN" b="1" dirty="0"/>
              <a:t>Security</a:t>
            </a:r>
          </a:p>
          <a:p>
            <a:r>
              <a:rPr lang="en-IN" b="1" dirty="0"/>
              <a:t>Discovery </a:t>
            </a:r>
            <a:r>
              <a:rPr lang="en-IN" dirty="0"/>
              <a:t>– Services need to know what other services are up and how to talk to them.</a:t>
            </a:r>
            <a:endParaRPr lang="en-IN" b="1" dirty="0"/>
          </a:p>
          <a:p>
            <a:r>
              <a:rPr lang="en-IN" b="1" dirty="0"/>
              <a:t>Traffic Management </a:t>
            </a:r>
            <a:r>
              <a:rPr lang="en-IN" dirty="0"/>
              <a:t>– Load Balancing, Circuit Breaking, Routing logic</a:t>
            </a:r>
            <a:endParaRPr lang="en-IN" b="1" dirty="0"/>
          </a:p>
          <a:p>
            <a:r>
              <a:rPr lang="en-IN" b="1" dirty="0"/>
              <a:t>Observability </a:t>
            </a:r>
          </a:p>
          <a:p>
            <a:r>
              <a:rPr lang="en-IN" b="1" dirty="0"/>
              <a:t>Policy  -</a:t>
            </a:r>
            <a:r>
              <a:rPr lang="en-IN" dirty="0"/>
              <a:t> AAA is done at service mesh level</a:t>
            </a:r>
          </a:p>
          <a:p>
            <a:endParaRPr lang="en-IN" dirty="0"/>
          </a:p>
          <a:p>
            <a:pPr marL="0" indent="0">
              <a:buNone/>
            </a:pPr>
            <a:r>
              <a:rPr lang="en-IN" dirty="0"/>
              <a:t>Service Meshes are a standardized way to provide all this to every service. In addition to this, service meshes are standard testing resiliency by allowing fault injection, and help in ISSU via canary deployments and traffic management.</a:t>
            </a:r>
          </a:p>
        </p:txBody>
      </p:sp>
    </p:spTree>
    <p:extLst>
      <p:ext uri="{BB962C8B-B14F-4D97-AF65-F5344CB8AC3E}">
        <p14:creationId xmlns:p14="http://schemas.microsoft.com/office/powerpoint/2010/main" val="12461649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02E80A-41B2-CCEF-2130-AC8F6DBA4EFA}"/>
              </a:ext>
            </a:extLst>
          </p:cNvPr>
          <p:cNvSpPr>
            <a:spLocks noGrp="1"/>
          </p:cNvSpPr>
          <p:nvPr>
            <p:ph type="title"/>
          </p:nvPr>
        </p:nvSpPr>
        <p:spPr>
          <a:xfrm>
            <a:off x="838200" y="134471"/>
            <a:ext cx="10515600" cy="959223"/>
          </a:xfrm>
        </p:spPr>
        <p:txBody>
          <a:bodyPr/>
          <a:lstStyle/>
          <a:p>
            <a:pPr algn="ctr"/>
            <a:r>
              <a:rPr lang="en-IN" dirty="0"/>
              <a:t>What is it?</a:t>
            </a:r>
          </a:p>
        </p:txBody>
      </p:sp>
      <p:sp>
        <p:nvSpPr>
          <p:cNvPr id="3" name="Content Placeholder 2">
            <a:extLst>
              <a:ext uri="{FF2B5EF4-FFF2-40B4-BE49-F238E27FC236}">
                <a16:creationId xmlns:a16="http://schemas.microsoft.com/office/drawing/2014/main" id="{AC7999AC-58F2-3545-C9F0-E9E934A35B00}"/>
              </a:ext>
            </a:extLst>
          </p:cNvPr>
          <p:cNvSpPr>
            <a:spLocks noGrp="1"/>
          </p:cNvSpPr>
          <p:nvPr>
            <p:ph idx="1"/>
          </p:nvPr>
        </p:nvSpPr>
        <p:spPr>
          <a:xfrm>
            <a:off x="403411" y="977153"/>
            <a:ext cx="11573435" cy="5611906"/>
          </a:xfrm>
        </p:spPr>
        <p:txBody>
          <a:bodyPr/>
          <a:lstStyle/>
          <a:p>
            <a:pPr marL="0" indent="0">
              <a:buNone/>
            </a:pPr>
            <a:r>
              <a:rPr lang="en-IN" dirty="0"/>
              <a:t>Service meshes all have three components to them – </a:t>
            </a:r>
          </a:p>
          <a:p>
            <a:pPr marL="0" indent="0">
              <a:buNone/>
            </a:pPr>
            <a:endParaRPr lang="en-IN" dirty="0"/>
          </a:p>
          <a:p>
            <a:r>
              <a:rPr lang="en-IN" b="1" dirty="0"/>
              <a:t>Traffic Interception – </a:t>
            </a:r>
            <a:r>
              <a:rPr lang="en-IN" dirty="0"/>
              <a:t>services have no knowledge of being in a mesh, so meshes have a way to intercept and control their traffic.</a:t>
            </a:r>
          </a:p>
          <a:p>
            <a:pPr marL="0" indent="0">
              <a:buNone/>
            </a:pPr>
            <a:endParaRPr lang="en-IN" b="1" dirty="0"/>
          </a:p>
          <a:p>
            <a:r>
              <a:rPr lang="en-IN" b="1" dirty="0"/>
              <a:t>Data plane – </a:t>
            </a:r>
            <a:r>
              <a:rPr lang="en-IN" dirty="0"/>
              <a:t>Mesh data holds logic related to traffic – config for load balancing/circuit breaking/rate limiting, the service registry of FQDNs, as well as stack for </a:t>
            </a:r>
            <a:r>
              <a:rPr lang="en-IN" dirty="0" err="1"/>
              <a:t>mTLS</a:t>
            </a:r>
            <a:r>
              <a:rPr lang="en-IN" dirty="0"/>
              <a:t>.</a:t>
            </a:r>
          </a:p>
          <a:p>
            <a:pPr marL="0" indent="0">
              <a:buNone/>
            </a:pPr>
            <a:r>
              <a:rPr lang="en-IN" b="1" dirty="0"/>
              <a:t> </a:t>
            </a:r>
          </a:p>
          <a:p>
            <a:r>
              <a:rPr lang="en-IN" b="1" dirty="0"/>
              <a:t>Control Plane – </a:t>
            </a:r>
            <a:r>
              <a:rPr lang="en-IN" dirty="0"/>
              <a:t>contains policies, service registry, cert management and configuration.</a:t>
            </a:r>
          </a:p>
          <a:p>
            <a:pPr marL="0" indent="0">
              <a:buNone/>
            </a:pPr>
            <a:r>
              <a:rPr lang="en-IN" dirty="0"/>
              <a:t> </a:t>
            </a:r>
          </a:p>
        </p:txBody>
      </p:sp>
    </p:spTree>
    <p:extLst>
      <p:ext uri="{BB962C8B-B14F-4D97-AF65-F5344CB8AC3E}">
        <p14:creationId xmlns:p14="http://schemas.microsoft.com/office/powerpoint/2010/main" val="23366682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0B94E9-5C4D-B00F-45E3-996FC9F7A711}"/>
              </a:ext>
            </a:extLst>
          </p:cNvPr>
          <p:cNvSpPr>
            <a:spLocks noGrp="1"/>
          </p:cNvSpPr>
          <p:nvPr>
            <p:ph type="title"/>
          </p:nvPr>
        </p:nvSpPr>
        <p:spPr>
          <a:xfrm>
            <a:off x="838200" y="85165"/>
            <a:ext cx="10515600" cy="977153"/>
          </a:xfrm>
        </p:spPr>
        <p:txBody>
          <a:bodyPr>
            <a:normAutofit/>
          </a:bodyPr>
          <a:lstStyle/>
          <a:p>
            <a:pPr algn="ctr"/>
            <a:r>
              <a:rPr lang="en-IN" dirty="0"/>
              <a:t>How does it work?</a:t>
            </a:r>
          </a:p>
        </p:txBody>
      </p:sp>
      <p:sp>
        <p:nvSpPr>
          <p:cNvPr id="3" name="Content Placeholder 2">
            <a:extLst>
              <a:ext uri="{FF2B5EF4-FFF2-40B4-BE49-F238E27FC236}">
                <a16:creationId xmlns:a16="http://schemas.microsoft.com/office/drawing/2014/main" id="{DA88194C-A0E0-E8FF-DDBB-FB65629EAE12}"/>
              </a:ext>
            </a:extLst>
          </p:cNvPr>
          <p:cNvSpPr>
            <a:spLocks noGrp="1"/>
          </p:cNvSpPr>
          <p:nvPr>
            <p:ph idx="1"/>
          </p:nvPr>
        </p:nvSpPr>
        <p:spPr>
          <a:xfrm>
            <a:off x="838200" y="1013012"/>
            <a:ext cx="10515600" cy="5163951"/>
          </a:xfrm>
        </p:spPr>
        <p:txBody>
          <a:bodyPr/>
          <a:lstStyle/>
          <a:p>
            <a:r>
              <a:rPr lang="en-IN" b="1" dirty="0"/>
              <a:t>Traffic interception </a:t>
            </a:r>
            <a:r>
              <a:rPr lang="en-IN" dirty="0"/>
              <a:t>traditionally was done by adding iptables rules to pods, with new method being using </a:t>
            </a:r>
            <a:r>
              <a:rPr lang="en-IN" dirty="0" err="1"/>
              <a:t>eBPF</a:t>
            </a:r>
            <a:r>
              <a:rPr lang="en-IN" dirty="0"/>
              <a:t>.</a:t>
            </a:r>
          </a:p>
          <a:p>
            <a:endParaRPr lang="en-IN" dirty="0"/>
          </a:p>
          <a:p>
            <a:r>
              <a:rPr lang="en-IN" b="1" dirty="0"/>
              <a:t>Data Plane </a:t>
            </a:r>
            <a:r>
              <a:rPr lang="en-IN" dirty="0"/>
              <a:t>is implemented by injecting sidecar proxies into pods, and having gateways for external traffic. Again, new meshes use </a:t>
            </a:r>
            <a:r>
              <a:rPr lang="en-IN" dirty="0" err="1"/>
              <a:t>eBPF</a:t>
            </a:r>
            <a:r>
              <a:rPr lang="en-IN" dirty="0"/>
              <a:t> to directly shape traffic/redirect to gateways.</a:t>
            </a:r>
          </a:p>
          <a:p>
            <a:endParaRPr lang="en-IN" dirty="0"/>
          </a:p>
          <a:p>
            <a:r>
              <a:rPr lang="en-IN" b="1" dirty="0"/>
              <a:t>Control plane </a:t>
            </a:r>
            <a:r>
              <a:rPr lang="en-IN" dirty="0"/>
              <a:t>is a daemon running in cluster that manages iptables/</a:t>
            </a:r>
            <a:r>
              <a:rPr lang="en-IN" dirty="0" err="1"/>
              <a:t>eBPF</a:t>
            </a:r>
            <a:r>
              <a:rPr lang="en-IN" dirty="0"/>
              <a:t> rules/proxy config.</a:t>
            </a:r>
          </a:p>
        </p:txBody>
      </p:sp>
    </p:spTree>
    <p:extLst>
      <p:ext uri="{BB962C8B-B14F-4D97-AF65-F5344CB8AC3E}">
        <p14:creationId xmlns:p14="http://schemas.microsoft.com/office/powerpoint/2010/main" val="13007750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4F879B7-9260-50D5-F308-37D2EF043FC4}"/>
              </a:ext>
            </a:extLst>
          </p:cNvPr>
          <p:cNvSpPr>
            <a:spLocks noGrp="1"/>
          </p:cNvSpPr>
          <p:nvPr>
            <p:ph type="title"/>
          </p:nvPr>
        </p:nvSpPr>
        <p:spPr>
          <a:xfrm>
            <a:off x="640080" y="2074363"/>
            <a:ext cx="2752354" cy="2709275"/>
          </a:xfrm>
          <a:prstGeom prst="ellipse">
            <a:avLst/>
          </a:prstGeom>
          <a:solidFill>
            <a:srgbClr val="262626"/>
          </a:solidFill>
          <a:ln w="174625" cmpd="thinThick">
            <a:solidFill>
              <a:srgbClr val="262626"/>
            </a:solidFill>
          </a:ln>
        </p:spPr>
        <p:txBody>
          <a:bodyPr vert="horz" lIns="91440" tIns="45720" rIns="91440" bIns="45720" rtlCol="0" anchor="ctr">
            <a:normAutofit/>
          </a:bodyPr>
          <a:lstStyle/>
          <a:p>
            <a:pPr algn="ctr"/>
            <a:r>
              <a:rPr lang="en-US" sz="2600" kern="1200">
                <a:solidFill>
                  <a:srgbClr val="FFFFFF"/>
                </a:solidFill>
                <a:latin typeface="+mj-lt"/>
                <a:ea typeface="+mj-ea"/>
                <a:cs typeface="+mj-cs"/>
              </a:rPr>
              <a:t>Comparison </a:t>
            </a:r>
          </a:p>
        </p:txBody>
      </p:sp>
      <p:pic>
        <p:nvPicPr>
          <p:cNvPr id="5" name="Content Placeholder 4">
            <a:extLst>
              <a:ext uri="{FF2B5EF4-FFF2-40B4-BE49-F238E27FC236}">
                <a16:creationId xmlns:a16="http://schemas.microsoft.com/office/drawing/2014/main" id="{622B4564-1317-5B60-ABB9-0B1D94B32EF0}"/>
              </a:ext>
            </a:extLst>
          </p:cNvPr>
          <p:cNvPicPr>
            <a:picLocks noGrp="1" noChangeAspect="1"/>
          </p:cNvPicPr>
          <p:nvPr>
            <p:ph idx="1"/>
          </p:nvPr>
        </p:nvPicPr>
        <p:blipFill>
          <a:blip>
            <a:extLst>
              <a:ext uri="{96DAC541-7B7A-43D3-8B79-37D633B846F1}">
                <asvg:svgBlip xmlns:asvg="http://schemas.microsoft.com/office/drawing/2016/SVG/main" r:embed="rId3"/>
              </a:ext>
            </a:extLst>
          </a:blip>
          <a:stretch>
            <a:fillRect/>
          </a:stretch>
        </p:blipFill>
        <p:spPr>
          <a:xfrm>
            <a:off x="3545958" y="287079"/>
            <a:ext cx="8468833" cy="6523073"/>
          </a:xfrm>
          <a:prstGeom prst="rect">
            <a:avLst/>
          </a:prstGeom>
        </p:spPr>
      </p:pic>
    </p:spTree>
    <p:extLst>
      <p:ext uri="{BB962C8B-B14F-4D97-AF65-F5344CB8AC3E}">
        <p14:creationId xmlns:p14="http://schemas.microsoft.com/office/powerpoint/2010/main" val="39724120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B2DF9-3841-C920-066B-AE4DEEA9ED05}"/>
              </a:ext>
            </a:extLst>
          </p:cNvPr>
          <p:cNvSpPr>
            <a:spLocks noGrp="1"/>
          </p:cNvSpPr>
          <p:nvPr>
            <p:ph type="title"/>
          </p:nvPr>
        </p:nvSpPr>
        <p:spPr>
          <a:xfrm>
            <a:off x="838200" y="35860"/>
            <a:ext cx="10515600" cy="717176"/>
          </a:xfrm>
        </p:spPr>
        <p:txBody>
          <a:bodyPr>
            <a:normAutofit/>
          </a:bodyPr>
          <a:lstStyle/>
          <a:p>
            <a:pPr algn="ctr"/>
            <a:r>
              <a:rPr lang="en-IN" dirty="0"/>
              <a:t>Istio</a:t>
            </a:r>
          </a:p>
        </p:txBody>
      </p:sp>
      <p:sp>
        <p:nvSpPr>
          <p:cNvPr id="4" name="Content Placeholder 3">
            <a:extLst>
              <a:ext uri="{FF2B5EF4-FFF2-40B4-BE49-F238E27FC236}">
                <a16:creationId xmlns:a16="http://schemas.microsoft.com/office/drawing/2014/main" id="{21E0C15D-8065-98FA-B6A5-51386FDD8590}"/>
              </a:ext>
            </a:extLst>
          </p:cNvPr>
          <p:cNvSpPr>
            <a:spLocks noGrp="1"/>
          </p:cNvSpPr>
          <p:nvPr>
            <p:ph sz="half" idx="1"/>
          </p:nvPr>
        </p:nvSpPr>
        <p:spPr>
          <a:xfrm>
            <a:off x="259976" y="1253331"/>
            <a:ext cx="5181600" cy="4351338"/>
          </a:xfrm>
        </p:spPr>
        <p:txBody>
          <a:bodyPr/>
          <a:lstStyle/>
          <a:p>
            <a:pPr marL="0" indent="0">
              <a:buNone/>
            </a:pPr>
            <a:r>
              <a:rPr lang="en-IN" dirty="0"/>
              <a:t>Istio implements the service mesh with </a:t>
            </a:r>
          </a:p>
          <a:p>
            <a:r>
              <a:rPr lang="en-IN" dirty="0" err="1"/>
              <a:t>Istiod</a:t>
            </a:r>
            <a:r>
              <a:rPr lang="en-IN" dirty="0"/>
              <a:t> as control-plane</a:t>
            </a:r>
          </a:p>
          <a:p>
            <a:endParaRPr lang="en-IN" dirty="0"/>
          </a:p>
          <a:p>
            <a:r>
              <a:rPr lang="en-IN" dirty="0"/>
              <a:t>Traffic interception via CNI, managed by </a:t>
            </a:r>
            <a:r>
              <a:rPr lang="en-IN" dirty="0" err="1"/>
              <a:t>istio-cni</a:t>
            </a:r>
            <a:r>
              <a:rPr lang="en-IN" dirty="0"/>
              <a:t> pod</a:t>
            </a:r>
          </a:p>
          <a:p>
            <a:endParaRPr lang="en-IN" dirty="0"/>
          </a:p>
          <a:p>
            <a:r>
              <a:rPr lang="en-IN" dirty="0"/>
              <a:t>Data plane of envoy proxy sidecars and gateways</a:t>
            </a:r>
          </a:p>
        </p:txBody>
      </p:sp>
      <p:pic>
        <p:nvPicPr>
          <p:cNvPr id="7" name="Content Placeholder 6">
            <a:extLst>
              <a:ext uri="{FF2B5EF4-FFF2-40B4-BE49-F238E27FC236}">
                <a16:creationId xmlns:a16="http://schemas.microsoft.com/office/drawing/2014/main" id="{22B8E2F6-36DC-C51F-D29B-773315ACB7D9}"/>
              </a:ext>
            </a:extLst>
          </p:cNvPr>
          <p:cNvPicPr>
            <a:picLocks noGrp="1" noChangeAspect="1"/>
          </p:cNvPicPr>
          <p:nvPr>
            <p:ph sz="half" idx="2"/>
          </p:nvPr>
        </p:nvPicPr>
        <p:blipFill>
          <a:blip>
            <a:extLst>
              <a:ext uri="{96DAC541-7B7A-43D3-8B79-37D633B846F1}">
                <asvg:svgBlip xmlns:asvg="http://schemas.microsoft.com/office/drawing/2016/SVG/main" r:embed="rId2"/>
              </a:ext>
            </a:extLst>
          </a:blip>
          <a:stretch>
            <a:fillRect/>
          </a:stretch>
        </p:blipFill>
        <p:spPr>
          <a:xfrm>
            <a:off x="5576048" y="936813"/>
            <a:ext cx="6468776" cy="5508811"/>
          </a:xfrm>
          <a:prstGeom prst="rect">
            <a:avLst/>
          </a:prstGeom>
        </p:spPr>
      </p:pic>
    </p:spTree>
    <p:extLst>
      <p:ext uri="{BB962C8B-B14F-4D97-AF65-F5344CB8AC3E}">
        <p14:creationId xmlns:p14="http://schemas.microsoft.com/office/powerpoint/2010/main" val="10520347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A4E04B-C146-8AC0-1425-6553FC5FCC11}"/>
              </a:ext>
            </a:extLst>
          </p:cNvPr>
          <p:cNvSpPr>
            <a:spLocks noGrp="1"/>
          </p:cNvSpPr>
          <p:nvPr>
            <p:ph type="title"/>
          </p:nvPr>
        </p:nvSpPr>
        <p:spPr>
          <a:xfrm>
            <a:off x="838200" y="116958"/>
            <a:ext cx="10515600" cy="797442"/>
          </a:xfrm>
        </p:spPr>
        <p:txBody>
          <a:bodyPr/>
          <a:lstStyle/>
          <a:p>
            <a:pPr algn="ctr"/>
            <a:r>
              <a:rPr lang="en-IN" dirty="0" err="1"/>
              <a:t>zTunnel</a:t>
            </a:r>
            <a:endParaRPr lang="en-IN" dirty="0"/>
          </a:p>
        </p:txBody>
      </p:sp>
      <p:sp>
        <p:nvSpPr>
          <p:cNvPr id="4" name="Content Placeholder 3">
            <a:extLst>
              <a:ext uri="{FF2B5EF4-FFF2-40B4-BE49-F238E27FC236}">
                <a16:creationId xmlns:a16="http://schemas.microsoft.com/office/drawing/2014/main" id="{AD0C8E2E-DCFA-0021-E8A4-82D1BB985F85}"/>
              </a:ext>
            </a:extLst>
          </p:cNvPr>
          <p:cNvSpPr>
            <a:spLocks noGrp="1"/>
          </p:cNvSpPr>
          <p:nvPr>
            <p:ph sz="half" idx="1"/>
          </p:nvPr>
        </p:nvSpPr>
        <p:spPr>
          <a:xfrm>
            <a:off x="389965" y="1198095"/>
            <a:ext cx="5181600" cy="5341658"/>
          </a:xfrm>
        </p:spPr>
        <p:txBody>
          <a:bodyPr>
            <a:normAutofit fontScale="92500" lnSpcReduction="20000"/>
          </a:bodyPr>
          <a:lstStyle/>
          <a:p>
            <a:pPr marL="0" indent="0">
              <a:buNone/>
            </a:pPr>
            <a:r>
              <a:rPr lang="en-IN" dirty="0" err="1"/>
              <a:t>zTunnel</a:t>
            </a:r>
            <a:r>
              <a:rPr lang="en-IN" dirty="0"/>
              <a:t> is a new </a:t>
            </a:r>
            <a:r>
              <a:rPr lang="en-IN" dirty="0" err="1"/>
              <a:t>daemonset</a:t>
            </a:r>
            <a:r>
              <a:rPr lang="en-IN" dirty="0"/>
              <a:t>, it sets up </a:t>
            </a:r>
            <a:r>
              <a:rPr lang="en-IN" dirty="0" err="1"/>
              <a:t>eBPF</a:t>
            </a:r>
            <a:r>
              <a:rPr lang="en-IN" dirty="0"/>
              <a:t> rules for each pod to intercept and send out traffic via HBONE tunnels to other nodes.</a:t>
            </a:r>
          </a:p>
          <a:p>
            <a:pPr marL="0" indent="0">
              <a:buNone/>
            </a:pPr>
            <a:endParaRPr lang="en-IN" dirty="0"/>
          </a:p>
          <a:p>
            <a:pPr marL="0" indent="0">
              <a:buNone/>
            </a:pPr>
            <a:r>
              <a:rPr lang="en-IN" dirty="0"/>
              <a:t>It can also optionally route via ‘Waypoint proxies’, envoy running in namespace or node level for advanced logic.</a:t>
            </a:r>
          </a:p>
          <a:p>
            <a:pPr marL="0" indent="0">
              <a:buNone/>
            </a:pPr>
            <a:endParaRPr lang="en-IN" dirty="0"/>
          </a:p>
          <a:p>
            <a:pPr marL="0" indent="0">
              <a:buNone/>
            </a:pPr>
            <a:r>
              <a:rPr lang="en-IN" dirty="0"/>
              <a:t>Note that the way </a:t>
            </a:r>
            <a:r>
              <a:rPr lang="en-IN" dirty="0" err="1"/>
              <a:t>istio</a:t>
            </a:r>
            <a:r>
              <a:rPr lang="en-IN" dirty="0"/>
              <a:t> handled ‘north-south’ traffic – via gateways remains unchanged, except </a:t>
            </a:r>
            <a:r>
              <a:rPr lang="en-IN" dirty="0" err="1"/>
              <a:t>zTunnels</a:t>
            </a:r>
            <a:r>
              <a:rPr lang="en-IN" dirty="0"/>
              <a:t> can re-direct to gateways without sidecars.</a:t>
            </a:r>
          </a:p>
          <a:p>
            <a:pPr marL="0" indent="0">
              <a:buNone/>
            </a:pPr>
            <a:endParaRPr lang="en-IN" dirty="0"/>
          </a:p>
        </p:txBody>
      </p:sp>
      <p:pic>
        <p:nvPicPr>
          <p:cNvPr id="7" name="Content Placeholder 6">
            <a:extLst>
              <a:ext uri="{FF2B5EF4-FFF2-40B4-BE49-F238E27FC236}">
                <a16:creationId xmlns:a16="http://schemas.microsoft.com/office/drawing/2014/main" id="{5929DADB-63B3-9D4C-17CC-814D5FCA0066}"/>
              </a:ext>
            </a:extLst>
          </p:cNvPr>
          <p:cNvPicPr>
            <a:picLocks noGrp="1" noChangeAspect="1"/>
          </p:cNvPicPr>
          <p:nvPr>
            <p:ph sz="half" idx="2"/>
          </p:nvPr>
        </p:nvPicPr>
        <p:blipFill>
          <a:blip>
            <a:extLst>
              <a:ext uri="{96DAC541-7B7A-43D3-8B79-37D633B846F1}">
                <asvg:svgBlip xmlns:asvg="http://schemas.microsoft.com/office/drawing/2016/SVG/main" r:embed="rId2"/>
              </a:ext>
            </a:extLst>
          </a:blip>
          <a:stretch>
            <a:fillRect/>
          </a:stretch>
        </p:blipFill>
        <p:spPr>
          <a:xfrm>
            <a:off x="5688107" y="914401"/>
            <a:ext cx="6239434" cy="5683624"/>
          </a:xfrm>
          <a:prstGeom prst="rect">
            <a:avLst/>
          </a:prstGeom>
        </p:spPr>
      </p:pic>
    </p:spTree>
    <p:extLst>
      <p:ext uri="{BB962C8B-B14F-4D97-AF65-F5344CB8AC3E}">
        <p14:creationId xmlns:p14="http://schemas.microsoft.com/office/powerpoint/2010/main" val="6130457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87ba5c36-b7cf-4793-bbc2-bd5b3a9f95ca}"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otalTime>3094</TotalTime>
  <Words>395</Words>
  <Application>Microsoft Office PowerPoint</Application>
  <PresentationFormat>Widescreen</PresentationFormat>
  <Paragraphs>41</Paragraphs>
  <Slides>7</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Aptos</vt:lpstr>
      <vt:lpstr>Aptos Display</vt:lpstr>
      <vt:lpstr>Arial</vt:lpstr>
      <vt:lpstr>Office Theme</vt:lpstr>
      <vt:lpstr>Service Mesh</vt:lpstr>
      <vt:lpstr>Why is it needed?</vt:lpstr>
      <vt:lpstr>What is it?</vt:lpstr>
      <vt:lpstr>How does it work?</vt:lpstr>
      <vt:lpstr>Comparison </vt:lpstr>
      <vt:lpstr>Istio</vt:lpstr>
      <vt:lpstr>zTunnel</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Vivek Subramaniam</dc:creator>
  <cp:lastModifiedBy>Vivek Subramaniam</cp:lastModifiedBy>
  <cp:revision>1</cp:revision>
  <dcterms:created xsi:type="dcterms:W3CDTF">2026-06-07T06:00:05Z</dcterms:created>
  <dcterms:modified xsi:type="dcterms:W3CDTF">2026-06-09T10:25:25Z</dcterms:modified>
</cp:coreProperties>
</file>